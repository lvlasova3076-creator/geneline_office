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0" y="-274320"/>
            <a:ext cx="5029200" cy="7772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0" b="1" i="0">
                <a:solidFill>
                  <a:srgbClr val="381C0C"/>
                </a:solidFill>
                <a:latin typeface="Calibri"/>
              </a:rPr>
              <a:t>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731520"/>
            <a:ext cx="7772400" cy="2194560"/>
          </a:xfrm>
          <a:prstGeom prst="roundRect">
            <a:avLst/>
          </a:prstGeom>
          <a:solidFill>
            <a:srgbClr val="3C1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731520"/>
            <a:ext cx="109728" cy="219456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86868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0E8D8"/>
                </a:solidFill>
                <a:latin typeface="Calibri"/>
              </a:rPr>
              <a:t>Навигатор специалиста: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536192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Пептидные комплексы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BF7850"/>
                </a:solidFill>
                <a:latin typeface="Calibri"/>
              </a:rPr>
              <a:t>Инструмент точной регуляции здоровья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3246120"/>
            <a:ext cx="3383280" cy="658368"/>
          </a:xfrm>
          <a:prstGeom prst="roundRect">
            <a:avLst/>
          </a:prstGeom>
          <a:solidFill>
            <a:srgbClr val="4E2812"/>
          </a:solidFill>
          <a:ln w="2540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33756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F7850"/>
                </a:solidFill>
                <a:latin typeface="Calibri"/>
              </a:rPr>
              <a:t>◉  10 комплексов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3246120"/>
            <a:ext cx="3383280" cy="658368"/>
          </a:xfrm>
          <a:prstGeom prst="roundRect">
            <a:avLst/>
          </a:prstGeom>
          <a:solidFill>
            <a:srgbClr val="4E2812"/>
          </a:solidFill>
          <a:ln w="2540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333756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9E6A3A"/>
                </a:solidFill>
                <a:latin typeface="Calibri"/>
              </a:rPr>
              <a:t>⬡  Алгоритмы подбора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89520" y="3246120"/>
            <a:ext cx="3383280" cy="658368"/>
          </a:xfrm>
          <a:prstGeom prst="roundRect">
            <a:avLst/>
          </a:prstGeom>
          <a:solidFill>
            <a:srgbClr val="4E2812"/>
          </a:solidFill>
          <a:ln w="2540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3337560"/>
            <a:ext cx="29260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89A50"/>
                </a:solidFill>
                <a:latin typeface="Calibri"/>
              </a:rPr>
              <a:t>◈  Сценарии продаж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160520"/>
            <a:ext cx="3383280" cy="2194560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7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279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8D8"/>
                </a:solidFill>
                <a:latin typeface="Calibri"/>
              </a:rPr>
              <a:t>Клинические данные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73168"/>
            <a:ext cx="2926080" cy="1270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8920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Подбор по симптомам
и жалобам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23360" y="4160520"/>
            <a:ext cx="3383280" cy="2194560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7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51960" y="4279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8D8"/>
                </a:solidFill>
                <a:latin typeface="Calibri"/>
              </a:rPr>
              <a:t>Модули воздействия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60" y="4773168"/>
            <a:ext cx="2926080" cy="1270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60" y="48920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Механизм каждого
комплекса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89520" y="4160520"/>
            <a:ext cx="3383280" cy="2194560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7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18120" y="4279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0E8D8"/>
                </a:solidFill>
                <a:latin typeface="Calibri"/>
              </a:rPr>
              <a:t>Безопасность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4773168"/>
            <a:ext cx="2926080" cy="1270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18120" y="489204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Красные флаги
и противопоказания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6510528"/>
            <a:ext cx="11274552" cy="246888"/>
          </a:xfrm>
          <a:prstGeom prst="round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47104"/>
            <a:ext cx="1072591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5C5AA"/>
                </a:solidFill>
                <a:latin typeface="Calibri"/>
              </a:rPr>
              <a:t>Маркетинговая версия с акцентом на безопасность, этику и работу специалиста.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Основы: Что такое пептиды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E6A3A"/>
                </a:solidFill>
                <a:latin typeface="Calibri"/>
              </a:rPr>
              <a:t>Понять механизм — значит уметь объяснить клиенту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89888"/>
            <a:ext cx="5577840" cy="5193792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89888"/>
            <a:ext cx="5577840" cy="9144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7850"/>
                </a:solidFill>
                <a:latin typeface="Calibri"/>
              </a:rPr>
              <a:t>ЧТО ЭТО?</a:t>
            </a:r>
          </a:p>
        </p:txBody>
      </p:sp>
      <p:pic>
        <p:nvPicPr>
          <p:cNvPr id="10" name="Picture 9" descr="molec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011680"/>
            <a:ext cx="5303520" cy="201168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685800" y="4133087"/>
            <a:ext cx="2331720" cy="594360"/>
          </a:xfrm>
          <a:prstGeom prst="roundRect">
            <a:avLst/>
          </a:prstGeom>
          <a:solidFill>
            <a:srgbClr val="4E2812"/>
          </a:solidFill>
          <a:ln w="1270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187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7850"/>
                </a:solidFill>
                <a:latin typeface="Calibri"/>
              </a:rPr>
              <a:t>&lt; 5000 Да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42428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C5AA"/>
                </a:solidFill>
                <a:latin typeface="Calibri"/>
              </a:rPr>
              <a:t>молекулярная масса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4133087"/>
            <a:ext cx="2331720" cy="594360"/>
          </a:xfrm>
          <a:prstGeom prst="roundRect">
            <a:avLst/>
          </a:prstGeom>
          <a:solidFill>
            <a:srgbClr val="4E2812"/>
          </a:solidFill>
          <a:ln w="1270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418795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7850"/>
                </a:solidFill>
                <a:latin typeface="Calibri"/>
              </a:rPr>
              <a:t>до 50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424281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5C5AA"/>
                </a:solidFill>
                <a:latin typeface="Calibri"/>
              </a:rPr>
              <a:t>аминокислот в цепочке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828032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Наш организм построен из белков. Если белок «разрезать» на короткие фрагменты, получатся пептиды. Это не строительный материал, а сигнальные молекулы.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6016752"/>
            <a:ext cx="5120640" cy="411480"/>
          </a:xfrm>
          <a:prstGeom prst="roundRect">
            <a:avLst/>
          </a:prstGeom>
          <a:solidFill>
            <a:srgbClr val="5528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BF7850"/>
                </a:solidFill>
                <a:latin typeface="Calibri"/>
              </a:rPr>
              <a:t>ПЕПТИДЫ — ЭТО ДИРИЖЁРЫ ОРГАНИЗМА.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389888"/>
            <a:ext cx="5376672" cy="5193792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55080" y="1389888"/>
            <a:ext cx="5376672" cy="91440"/>
          </a:xfrm>
          <a:prstGeom prst="rect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1481328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A50"/>
                </a:solidFill>
                <a:latin typeface="Calibri"/>
              </a:rPr>
              <a:t>ПРИНЦИП КЛЮЧ–ЗАМОК</a:t>
            </a:r>
          </a:p>
        </p:txBody>
      </p:sp>
      <p:pic>
        <p:nvPicPr>
          <p:cNvPr id="23" name="Picture 22" descr="key_lo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2011680"/>
            <a:ext cx="5102352" cy="201168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583680" y="4160520"/>
            <a:ext cx="4919472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Пептид действует на специфические рецепторы клеток. Когда пептид связывается с рецептором, клетка получает чёткую команду: усилить или замедлить процесс, синтезировать гормон или фермент.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0" y="5833872"/>
            <a:ext cx="4919472" cy="640080"/>
          </a:xfrm>
          <a:prstGeom prst="roundRect">
            <a:avLst/>
          </a:prstGeom>
          <a:solidFill>
            <a:srgbClr val="553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5897880"/>
            <a:ext cx="4645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89A50"/>
                </a:solidFill>
                <a:latin typeface="Calibri"/>
              </a:rPr>
              <a:t>Они не подменяют систему,
а возвращают ей правильный ритм.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Смена парадигмы: Пептиды vs. Привычные препараты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5408676" cy="548640"/>
          </a:xfrm>
          <a:prstGeom prst="roundRect">
            <a:avLst/>
          </a:prstGeom>
          <a:solidFill>
            <a:srgbClr val="4E2812"/>
          </a:solidFill>
          <a:ln w="19050">
            <a:solidFill>
              <a:srgbClr val="7A4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A4020"/>
                </a:solidFill>
                <a:latin typeface="Calibri"/>
              </a:rPr>
              <a:t>⊗  Классические препараты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3076" y="1389888"/>
            <a:ext cx="5408676" cy="548640"/>
          </a:xfrm>
          <a:prstGeom prst="roundRect">
            <a:avLst/>
          </a:prstGeom>
          <a:solidFill>
            <a:srgbClr val="4E2812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05956" y="1463040"/>
            <a:ext cx="50429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F7850"/>
                </a:solidFill>
                <a:latin typeface="Calibri"/>
              </a:rPr>
              <a:t>◉  Пептидные комплексы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8"/>
            <a:ext cx="11274552" cy="274320"/>
          </a:xfrm>
          <a:prstGeom prst="rect">
            <a:avLst/>
          </a:prstGeom>
          <a:solidFill>
            <a:srgbClr val="35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066544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A50"/>
                </a:solidFill>
                <a:latin typeface="Calibri"/>
              </a:rPr>
              <a:t>⚙  Механизм действия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22576"/>
            <a:ext cx="5408676" cy="731520"/>
          </a:xfrm>
          <a:prstGeom prst="roundRect">
            <a:avLst/>
          </a:prstGeom>
          <a:solidFill>
            <a:srgbClr val="3C1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" y="2414016"/>
            <a:ext cx="50794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Замещение или подавление функций (работают «за» организм).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23076" y="2322576"/>
            <a:ext cx="5408676" cy="731520"/>
          </a:xfrm>
          <a:prstGeom prst="roundRect">
            <a:avLst/>
          </a:prstGeom>
          <a:solidFill>
            <a:srgbClr val="3C1E0C"/>
          </a:solidFill>
          <a:ln w="9525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414016"/>
            <a:ext cx="50794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8D8"/>
                </a:solidFill>
                <a:latin typeface="Calibri"/>
              </a:rPr>
              <a:t>Мягкая регуляция и настройка (помогают системе работать естественно).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27248"/>
            <a:ext cx="11274552" cy="274320"/>
          </a:xfrm>
          <a:prstGeom prst="rect">
            <a:avLst/>
          </a:prstGeom>
          <a:solidFill>
            <a:srgbClr val="35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163824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A50"/>
                </a:solidFill>
                <a:latin typeface="Calibri"/>
              </a:rPr>
              <a:t>◎  Точность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419856"/>
            <a:ext cx="5408676" cy="731520"/>
          </a:xfrm>
          <a:prstGeom prst="roundRect">
            <a:avLst/>
          </a:prstGeom>
          <a:solidFill>
            <a:srgbClr val="3C1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" y="3511296"/>
            <a:ext cx="50794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Широкое системное воздействие.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23076" y="3419856"/>
            <a:ext cx="5408676" cy="731520"/>
          </a:xfrm>
          <a:prstGeom prst="roundRect">
            <a:avLst/>
          </a:prstGeom>
          <a:solidFill>
            <a:srgbClr val="3C1E0C"/>
          </a:solidFill>
          <a:ln w="9525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7668" y="3511296"/>
            <a:ext cx="50794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8D8"/>
                </a:solidFill>
                <a:latin typeface="Calibri"/>
              </a:rPr>
              <a:t>Действуют точечно — «ключ под замок» на свои рецепторы.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224528"/>
            <a:ext cx="11274552" cy="274320"/>
          </a:xfrm>
          <a:prstGeom prst="rect">
            <a:avLst/>
          </a:prstGeom>
          <a:solidFill>
            <a:srgbClr val="35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61104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A50"/>
                </a:solidFill>
                <a:latin typeface="Calibri"/>
              </a:rPr>
              <a:t>⛓  Риски привыкания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17136"/>
            <a:ext cx="5408676" cy="731520"/>
          </a:xfrm>
          <a:prstGeom prst="roundRect">
            <a:avLst/>
          </a:prstGeom>
          <a:solidFill>
            <a:srgbClr val="3C1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1792" y="4608576"/>
            <a:ext cx="50794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Возможен синдром отмены и зависимость.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23076" y="4517136"/>
            <a:ext cx="5408676" cy="731520"/>
          </a:xfrm>
          <a:prstGeom prst="roundRect">
            <a:avLst/>
          </a:prstGeom>
          <a:solidFill>
            <a:srgbClr val="3C1E0C"/>
          </a:solidFill>
          <a:ln w="9525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87668" y="4608576"/>
            <a:ext cx="50794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8D8"/>
                </a:solidFill>
                <a:latin typeface="Calibri"/>
              </a:rPr>
              <a:t>Не вызывают привыкания и резкого синдрома отмены.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321808"/>
            <a:ext cx="11274552" cy="274320"/>
          </a:xfrm>
          <a:prstGeom prst="rect">
            <a:avLst/>
          </a:prstGeom>
          <a:solidFill>
            <a:srgbClr val="35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358384"/>
            <a:ext cx="109087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A50"/>
                </a:solidFill>
                <a:latin typeface="Calibri"/>
              </a:rPr>
              <a:t>◈  Зона применения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5614416"/>
            <a:ext cx="5408676" cy="731520"/>
          </a:xfrm>
          <a:prstGeom prst="roundRect">
            <a:avLst/>
          </a:prstGeom>
          <a:solidFill>
            <a:srgbClr val="3C1E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1792" y="5705856"/>
            <a:ext cx="50794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Купирование острых симптомов.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3076" y="5614416"/>
            <a:ext cx="5408676" cy="731520"/>
          </a:xfrm>
          <a:prstGeom prst="roundRect">
            <a:avLst/>
          </a:prstGeom>
          <a:solidFill>
            <a:srgbClr val="3C1E0C"/>
          </a:solidFill>
          <a:ln w="9525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87668" y="5705856"/>
            <a:ext cx="50794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0E8D8"/>
                </a:solidFill>
                <a:latin typeface="Calibri"/>
              </a:rPr>
              <a:t>Работа там, где симптом сохраняется, а классические препараты дают слабый эффект.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Матрица подбора: Главный дашборд специалиста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41248"/>
            <a:ext cx="112745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9E6A3A"/>
                </a:solidFill>
                <a:latin typeface="Calibri"/>
              </a:rPr>
              <a:t>Быстрый ориентир на старте разговора с клиентом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389888"/>
            <a:ext cx="4389120" cy="502920"/>
          </a:xfrm>
          <a:prstGeom prst="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919472" y="1389888"/>
            <a:ext cx="6858000" cy="502920"/>
          </a:xfrm>
          <a:prstGeom prst="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813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8D8"/>
                </a:solidFill>
                <a:latin typeface="Calibri"/>
              </a:rPr>
              <a:t>ЖАЛОБА КЛИЕНТА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74920" y="1481328"/>
            <a:ext cx="6583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0E8D8"/>
                </a:solidFill>
                <a:latin typeface="Calibri"/>
              </a:rPr>
              <a:t>ПРИОРИТЕТНЫЙ КОМПЛЕКС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92808"/>
            <a:ext cx="438912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19472" y="1892808"/>
            <a:ext cx="685800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46320" y="189280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19842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🧠  «Голова не варит», рассеянность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74920" y="1984248"/>
            <a:ext cx="1312164" cy="320040"/>
          </a:xfrm>
          <a:prstGeom prst="round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2002536"/>
            <a:ext cx="122072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ACTIVEBRAIN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395728"/>
            <a:ext cx="438912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919472" y="2395728"/>
            <a:ext cx="685800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46320" y="239572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" y="24871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☁  Хронический стресс, выгорание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4920" y="2487168"/>
            <a:ext cx="2322576" cy="320040"/>
          </a:xfrm>
          <a:prstGeom prst="roundRect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20640" y="2505456"/>
            <a:ext cx="22311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NO STRESS + STRESSRELIEF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898648"/>
            <a:ext cx="438912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19472" y="2898648"/>
            <a:ext cx="685800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846320" y="289864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4360" y="29900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🌙  Не могу заснуть, не восстанавливаюсь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74920" y="2990088"/>
            <a:ext cx="2011680" cy="320040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30083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RECOVERY / NO STRESS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401568"/>
            <a:ext cx="438912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919472" y="3401568"/>
            <a:ext cx="685800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46320" y="340156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34930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🛡  Часто болею, долго восстанавливаюсь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74920" y="3493008"/>
            <a:ext cx="1234440" cy="320040"/>
          </a:xfrm>
          <a:prstGeom prst="round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20640" y="3511296"/>
            <a:ext cx="1143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IMMUNACTIV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904488"/>
            <a:ext cx="438912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919472" y="3904488"/>
            <a:ext cx="685800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46320" y="390448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4360" y="39959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◎  Частые проблемы со слизистыми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74920" y="3995928"/>
            <a:ext cx="1389888" cy="320040"/>
          </a:xfrm>
          <a:prstGeom prst="roundRect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0" y="401421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STOPBACTERIA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407408"/>
            <a:ext cx="438912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19472" y="4407408"/>
            <a:ext cx="685800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846320" y="440740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498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〰  Хроническая боль, гиперчувствительность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74920" y="4498848"/>
            <a:ext cx="923544" cy="320040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20640" y="4517136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RELIEF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910328"/>
            <a:ext cx="438912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19472" y="4910328"/>
            <a:ext cx="685800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846320" y="491032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4360" y="500176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◉  Социальная тревога, «холодность»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74920" y="5001768"/>
            <a:ext cx="923544" cy="320040"/>
          </a:xfrm>
          <a:prstGeom prst="round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120640" y="5020056"/>
            <a:ext cx="83210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OXYGEN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413248"/>
            <a:ext cx="438912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919472" y="5413248"/>
            <a:ext cx="685800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846320" y="541324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94360" y="550468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♡  «Нет желания», переутомление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74920" y="5504688"/>
            <a:ext cx="2011680" cy="320040"/>
          </a:xfrm>
          <a:prstGeom prst="roundRect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20640" y="552297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TESTOBOOSTER + AMORE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916168"/>
            <a:ext cx="438912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19472" y="5916168"/>
            <a:ext cx="6858000" cy="502920"/>
          </a:xfrm>
          <a:prstGeom prst="rect">
            <a:avLst/>
          </a:prstGeom>
          <a:solidFill>
            <a:srgbClr val="381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846320" y="591616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94360" y="60076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⚡  Снижение либидо (гормоны в норме)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74920" y="6007608"/>
            <a:ext cx="1389888" cy="320040"/>
          </a:xfrm>
          <a:prstGeom prst="roundRect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120640" y="6025896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TESTOBOOSTER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6419088"/>
            <a:ext cx="438912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919472" y="6419088"/>
            <a:ext cx="6858000" cy="502920"/>
          </a:xfrm>
          <a:prstGeom prst="rect">
            <a:avLst/>
          </a:prstGeom>
          <a:solidFill>
            <a:srgbClr val="3016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846320" y="6419088"/>
            <a:ext cx="73152" cy="502920"/>
          </a:xfrm>
          <a:prstGeom prst="rect">
            <a:avLst/>
          </a:prstGeom>
          <a:solidFill>
            <a:srgbClr val="2812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94360" y="651052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☽  Нерегулярный цикл, аменорея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074920" y="6510528"/>
            <a:ext cx="2478024" cy="320040"/>
          </a:xfrm>
          <a:prstGeom prst="roundRect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20640" y="6528816"/>
            <a:ext cx="238658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FFFFFF"/>
                </a:solidFill>
                <a:latin typeface="Calibri"/>
              </a:rPr>
              <a:t>AMORE (только после врача)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Кластер I: Нервная система и мозг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3636264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27048"/>
            <a:ext cx="32705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BF7850"/>
                </a:solidFill>
                <a:latin typeface="Calibri"/>
              </a:rPr>
              <a:t>ACTIVEBRAIN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3270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C5AA"/>
                </a:solidFill>
                <a:latin typeface="Calibri"/>
              </a:rPr>
              <a:t>(Ясность мышления)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2340864"/>
            <a:ext cx="3270504" cy="1270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40080" y="24688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24688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100">
                <a:solidFill>
                  <a:srgbClr val="D5C5AA"/>
                </a:solidFill>
                <a:latin typeface="Calibri"/>
              </a:rPr>
              <a:t>Высокая умственная нагрузка, жалобы на «туман в голове».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33832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83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8992" y="33832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100">
                <a:solidFill>
                  <a:srgbClr val="D5C5AA"/>
                </a:solidFill>
                <a:latin typeface="Calibri"/>
              </a:rPr>
              <a:t>Оптимизирует работу мозга под нагрузкой. Защищает нейроны. Не стимулятор.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42976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297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" y="42976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100">
                <a:solidFill>
                  <a:srgbClr val="D5C5AA"/>
                </a:solidFill>
                <a:latin typeface="Calibri"/>
              </a:rPr>
              <a:t>«Это не таблетка концентрации. Он помогает мозгу выйти из перегрузки и работать спокойно.»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5367527"/>
            <a:ext cx="3270504" cy="12700"/>
          </a:xfrm>
          <a:prstGeom prst="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40080" y="5477255"/>
            <a:ext cx="1796796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5504687"/>
            <a:ext cx="16504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Умственная нагрузка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28316" y="5477255"/>
            <a:ext cx="1485900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01468" y="5504687"/>
            <a:ext cx="13395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Защита нейронов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76344" y="1389888"/>
            <a:ext cx="3636264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9224" y="1527048"/>
            <a:ext cx="32705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9E6A3A"/>
                </a:solidFill>
                <a:latin typeface="Calibri"/>
              </a:rPr>
              <a:t>NO STRESS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9224" y="2011680"/>
            <a:ext cx="3270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C5AA"/>
                </a:solidFill>
                <a:latin typeface="Calibri"/>
              </a:rPr>
              <a:t>(Переключатель)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59224" y="2340864"/>
            <a:ext cx="3270504" cy="12700"/>
          </a:xfrm>
          <a:prstGeom prst="rect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459224" y="24688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59224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98136" y="24688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100">
                <a:solidFill>
                  <a:srgbClr val="D5C5AA"/>
                </a:solidFill>
                <a:latin typeface="Calibri"/>
              </a:rPr>
              <a:t>Хронический стресс, «нервная система не выключается», тревожная бессонница.</a:t>
            </a:r>
          </a:p>
        </p:txBody>
      </p:sp>
      <p:sp>
        <p:nvSpPr>
          <p:cNvPr id="31" name="Oval 30"/>
          <p:cNvSpPr/>
          <p:nvPr/>
        </p:nvSpPr>
        <p:spPr>
          <a:xfrm>
            <a:off x="4459224" y="33832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459224" y="3383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8136" y="33832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100">
                <a:solidFill>
                  <a:srgbClr val="D5C5AA"/>
                </a:solidFill>
                <a:latin typeface="Calibri"/>
              </a:rPr>
              <a:t>Возвращает работу «педали тормоза», помогает естественно переключиться из режима тревоги.</a:t>
            </a:r>
          </a:p>
        </p:txBody>
      </p:sp>
      <p:sp>
        <p:nvSpPr>
          <p:cNvPr id="34" name="Oval 33"/>
          <p:cNvSpPr/>
          <p:nvPr/>
        </p:nvSpPr>
        <p:spPr>
          <a:xfrm>
            <a:off x="4459224" y="42976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59224" y="4297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98136" y="42976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100">
                <a:solidFill>
                  <a:srgbClr val="D5C5AA"/>
                </a:solidFill>
                <a:latin typeface="Calibri"/>
              </a:rPr>
              <a:t>«Это не снотворное. Это переключатель из боевого режима в режим восстановления.»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59224" y="5367527"/>
            <a:ext cx="3270504" cy="12700"/>
          </a:xfrm>
          <a:prstGeom prst="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459224" y="5477255"/>
            <a:ext cx="1719072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32376" y="5504687"/>
            <a:ext cx="157276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Хронический стресс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69736" y="5477255"/>
            <a:ext cx="1097280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2888" y="5504687"/>
            <a:ext cx="9509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Бессонница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95488" y="1389888"/>
            <a:ext cx="3636264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8368" y="1527048"/>
            <a:ext cx="32705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89A50"/>
                </a:solidFill>
                <a:latin typeface="Calibri"/>
              </a:rPr>
              <a:t>STRESSRELIEF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78368" y="2011680"/>
            <a:ext cx="3270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D5C5AA"/>
                </a:solidFill>
                <a:latin typeface="Calibri"/>
              </a:rPr>
              <a:t>(Восстановление ресурсов)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78368" y="2340864"/>
            <a:ext cx="3270504" cy="12700"/>
          </a:xfrm>
          <a:prstGeom prst="rect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278368" y="24688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78368" y="24688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9A50"/>
                </a:solidFill>
                <a:latin typeface="Calibri"/>
              </a:rPr>
              <a:t>◎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17280" y="24688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100">
                <a:solidFill>
                  <a:srgbClr val="D5C5AA"/>
                </a:solidFill>
                <a:latin typeface="Calibri"/>
              </a:rPr>
              <a:t>Эмоциональное истощение, выгорание, снижение памяти на фоне перегрузки.</a:t>
            </a:r>
          </a:p>
        </p:txBody>
      </p:sp>
      <p:sp>
        <p:nvSpPr>
          <p:cNvPr id="49" name="Oval 48"/>
          <p:cNvSpPr/>
          <p:nvPr/>
        </p:nvSpPr>
        <p:spPr>
          <a:xfrm>
            <a:off x="8278368" y="33832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8368" y="33832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9A50"/>
                </a:solidFill>
                <a:latin typeface="Calibri"/>
              </a:rPr>
              <a:t>◎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17280" y="33832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100">
                <a:solidFill>
                  <a:srgbClr val="D5C5AA"/>
                </a:solidFill>
                <a:latin typeface="Calibri"/>
              </a:rPr>
              <a:t>Поддержка нейропластичности. Помогает нейронам выживать и восстанавливать связи.</a:t>
            </a:r>
          </a:p>
        </p:txBody>
      </p:sp>
      <p:sp>
        <p:nvSpPr>
          <p:cNvPr id="52" name="Oval 51"/>
          <p:cNvSpPr/>
          <p:nvPr/>
        </p:nvSpPr>
        <p:spPr>
          <a:xfrm>
            <a:off x="8278368" y="4297680"/>
            <a:ext cx="347472" cy="347472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78368" y="4297680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89A50"/>
                </a:solidFill>
                <a:latin typeface="Calibri"/>
              </a:rPr>
              <a:t>◎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17280" y="4297680"/>
            <a:ext cx="2831592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10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100">
                <a:solidFill>
                  <a:srgbClr val="D5C5AA"/>
                </a:solidFill>
                <a:latin typeface="Calibri"/>
              </a:rPr>
              <a:t>«Это не антидепрессант. Он помогает мозгу заново обрести устойчивость к стрессу.»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278368" y="5367527"/>
            <a:ext cx="3270504" cy="12700"/>
          </a:xfrm>
          <a:prstGeom prst="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278368" y="5477255"/>
            <a:ext cx="1019556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351520" y="5504687"/>
            <a:ext cx="87325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Выгорание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389364" y="5477255"/>
            <a:ext cx="1485900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462516" y="5504687"/>
            <a:ext cx="13395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Снижение памяти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Кластер II: Восстановление и снятие боли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5454396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886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7850"/>
                </a:solidFill>
                <a:latin typeface="Calibri"/>
              </a:rPr>
              <a:t>RECOVERY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5C5AA"/>
                </a:solidFill>
                <a:latin typeface="Calibri"/>
              </a:rPr>
              <a:t>(Глубокое восстановление)</a:t>
            </a:r>
          </a:p>
        </p:txBody>
      </p:sp>
      <p:pic>
        <p:nvPicPr>
          <p:cNvPr id="9" name="Picture 8" descr="slee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59152"/>
            <a:ext cx="5180076" cy="11887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5047488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47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47488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050">
                <a:solidFill>
                  <a:srgbClr val="D5C5AA"/>
                </a:solidFill>
                <a:latin typeface="Calibri"/>
              </a:rPr>
              <a:t>Поверхностный сон, недосып, джетлаг, отсутствие утренней бодрости.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852160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52160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050">
                <a:solidFill>
                  <a:srgbClr val="D5C5AA"/>
                </a:solidFill>
                <a:latin typeface="Calibri"/>
              </a:rPr>
              <a:t>Индуктор медленноволнового сна. Заново выстраивает нормальную архитектуру сна для починки организма.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6656832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6568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6656832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050">
                <a:solidFill>
                  <a:srgbClr val="D5C5AA"/>
                </a:solidFill>
                <a:latin typeface="Calibri"/>
              </a:rPr>
              <a:t>«Это не "уснуть любой ценой". Это возвращение той глубины сна, в которой мозг и тело действительно отдыхают.»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7356" y="1389888"/>
            <a:ext cx="5454396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1508760"/>
            <a:ext cx="50886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E6A3A"/>
                </a:solidFill>
                <a:latin typeface="Calibri"/>
              </a:rPr>
              <a:t>RELIEF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011680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5C5AA"/>
                </a:solidFill>
                <a:latin typeface="Calibri"/>
              </a:rPr>
              <a:t>(Снижение гиперчувствительности)</a:t>
            </a:r>
          </a:p>
        </p:txBody>
      </p:sp>
      <p:pic>
        <p:nvPicPr>
          <p:cNvPr id="22" name="Picture 21" descr="pain_wa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2359152"/>
            <a:ext cx="5180076" cy="118872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6460236" y="5047488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0236" y="5047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1716" y="5047488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050">
                <a:solidFill>
                  <a:srgbClr val="D5C5AA"/>
                </a:solidFill>
                <a:latin typeface="Calibri"/>
              </a:rPr>
              <a:t>Хроническая и нейропатическая боль, постнагрузочные состояния, воспалительный фон.</a:t>
            </a:r>
          </a:p>
        </p:txBody>
      </p:sp>
      <p:sp>
        <p:nvSpPr>
          <p:cNvPr id="26" name="Oval 25"/>
          <p:cNvSpPr/>
          <p:nvPr/>
        </p:nvSpPr>
        <p:spPr>
          <a:xfrm>
            <a:off x="6460236" y="5852160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0236" y="5852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1716" y="5852160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050">
                <a:solidFill>
                  <a:srgbClr val="D5C5AA"/>
                </a:solidFill>
                <a:latin typeface="Calibri"/>
              </a:rPr>
              <a:t>Снижает гипервозбудимость ЦНС и «расшумляет» систему. Боль снижается естественно.</a:t>
            </a:r>
          </a:p>
        </p:txBody>
      </p:sp>
      <p:sp>
        <p:nvSpPr>
          <p:cNvPr id="29" name="Oval 28"/>
          <p:cNvSpPr/>
          <p:nvPr/>
        </p:nvSpPr>
        <p:spPr>
          <a:xfrm>
            <a:off x="6460236" y="6656832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66568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1716" y="6656832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050">
                <a:solidFill>
                  <a:srgbClr val="D5C5AA"/>
                </a:solidFill>
                <a:latin typeface="Calibri"/>
              </a:rPr>
              <a:t>«Это не обезболивающее в привычном смысле. Он работает с тем, насколько резко нервная система реагирует на сигнал.»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Кластер III: Иммунитет и защита слизистых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5454396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50886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F7850"/>
                </a:solidFill>
                <a:latin typeface="Calibri"/>
              </a:rPr>
              <a:t>IMMUNACTIV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11680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5C5AA"/>
                </a:solidFill>
                <a:latin typeface="Calibri"/>
              </a:rPr>
              <a:t>(Нейроиммунная регуляция)</a:t>
            </a:r>
          </a:p>
        </p:txBody>
      </p:sp>
      <p:pic>
        <p:nvPicPr>
          <p:cNvPr id="9" name="Picture 8" descr="IMMUNACTI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2359152"/>
            <a:ext cx="5180076" cy="1188720"/>
          </a:xfrm>
          <a:prstGeom prst="rect">
            <a:avLst/>
          </a:prstGeom>
        </p:spPr>
      </p:pic>
      <p:sp>
        <p:nvSpPr>
          <p:cNvPr id="10" name="Oval 9"/>
          <p:cNvSpPr/>
          <p:nvPr/>
        </p:nvSpPr>
        <p:spPr>
          <a:xfrm>
            <a:off x="640080" y="5047488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47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5047488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050">
                <a:solidFill>
                  <a:srgbClr val="D5C5AA"/>
                </a:solidFill>
                <a:latin typeface="Calibri"/>
              </a:rPr>
              <a:t>Часто болеющие, долго восстанавливающиеся, состояния «тревожусь — болею».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5852160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852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5852160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050">
                <a:solidFill>
                  <a:srgbClr val="D5C5AA"/>
                </a:solidFill>
                <a:latin typeface="Calibri"/>
              </a:rPr>
              <a:t>Помогает клеткам врождённого иммунитета выйти из хронического напряжения. Успокаивает нервную систему.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6656832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6568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6656832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050">
                <a:solidFill>
                  <a:srgbClr val="D5C5AA"/>
                </a:solidFill>
                <a:latin typeface="Calibri"/>
              </a:rPr>
              <a:t>«Это не подстёгивание иммунитета. Это аккуратная настройка, чтобы клетки реагировали вовремя, а голова успокаивалась.»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77356" y="1389888"/>
            <a:ext cx="5454396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60236" y="1508760"/>
            <a:ext cx="5088636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9E6A3A"/>
                </a:solidFill>
                <a:latin typeface="Calibri"/>
              </a:rPr>
              <a:t>STOPBACTERIA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0236" y="2011680"/>
            <a:ext cx="508863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1">
                <a:solidFill>
                  <a:srgbClr val="D5C5AA"/>
                </a:solidFill>
                <a:latin typeface="Calibri"/>
              </a:rPr>
              <a:t>(Передовая защита)</a:t>
            </a:r>
          </a:p>
        </p:txBody>
      </p:sp>
      <p:pic>
        <p:nvPicPr>
          <p:cNvPr id="22" name="Picture 21" descr="STOPBACTER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516" y="2359152"/>
            <a:ext cx="5180076" cy="118872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6460236" y="5047488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0236" y="504748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1716" y="5047488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050">
                <a:solidFill>
                  <a:srgbClr val="D5C5AA"/>
                </a:solidFill>
                <a:latin typeface="Calibri"/>
              </a:rPr>
              <a:t>Частые инфекции верхних дыхательных путей, медленно заживающие повреждения.</a:t>
            </a:r>
          </a:p>
        </p:txBody>
      </p:sp>
      <p:sp>
        <p:nvSpPr>
          <p:cNvPr id="26" name="Oval 25"/>
          <p:cNvSpPr/>
          <p:nvPr/>
        </p:nvSpPr>
        <p:spPr>
          <a:xfrm>
            <a:off x="6460236" y="5852160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60236" y="585216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1716" y="5852160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050">
                <a:solidFill>
                  <a:srgbClr val="D5C5AA"/>
                </a:solidFill>
                <a:latin typeface="Calibri"/>
              </a:rPr>
              <a:t>Встраивается в мембраны микробов и разрушает их, координируя местное заживление.</a:t>
            </a:r>
          </a:p>
        </p:txBody>
      </p:sp>
      <p:sp>
        <p:nvSpPr>
          <p:cNvPr id="29" name="Oval 28"/>
          <p:cNvSpPr/>
          <p:nvPr/>
        </p:nvSpPr>
        <p:spPr>
          <a:xfrm>
            <a:off x="6460236" y="6656832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6656832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71716" y="6656832"/>
            <a:ext cx="4677156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5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050">
                <a:solidFill>
                  <a:srgbClr val="D5C5AA"/>
                </a:solidFill>
                <a:latin typeface="Calibri"/>
              </a:rPr>
              <a:t>«Это не антибиотик. Это пептид собственной защитной системы, к которому сложнее формируется устойчивость бактерий.»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Кластер IV: Эмоции, контакт и либидо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3636264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XYG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81328"/>
            <a:ext cx="3453384" cy="14630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548640" y="1481328"/>
            <a:ext cx="3453384" cy="1463040"/>
          </a:xfrm>
          <a:prstGeom prst="roundRect">
            <a:avLst/>
          </a:prstGeom>
          <a:solidFill>
            <a:srgbClr val="3C1E0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54480"/>
            <a:ext cx="32705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BF7850"/>
                </a:solidFill>
                <a:latin typeface="Calibri"/>
              </a:rPr>
              <a:t>OXYGEN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8"/>
            <a:ext cx="3270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5C5AA"/>
                </a:solidFill>
                <a:latin typeface="Calibri"/>
              </a:rPr>
              <a:t>(Спокойствие и доверие)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68296"/>
            <a:ext cx="3270504" cy="1270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0080" y="2487168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4871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487168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000">
                <a:solidFill>
                  <a:srgbClr val="D5C5AA"/>
                </a:solidFill>
                <a:latin typeface="Calibri"/>
              </a:rPr>
              <a:t>Социальная настороженность, эмоциональное выгорание, «барьер с людьми».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328416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284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328416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000">
                <a:solidFill>
                  <a:srgbClr val="D5C5AA"/>
                </a:solidFill>
                <a:latin typeface="Calibri"/>
              </a:rPr>
              <a:t>Перенастраивает датчики безопасности мозга. Снижает гиперактивацию тревожных контуров.</a:t>
            </a:r>
          </a:p>
        </p:txBody>
      </p:sp>
      <p:sp>
        <p:nvSpPr>
          <p:cNvPr id="18" name="Oval 17"/>
          <p:cNvSpPr/>
          <p:nvPr/>
        </p:nvSpPr>
        <p:spPr>
          <a:xfrm>
            <a:off x="640080" y="4169664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1696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F7850"/>
                </a:solidFill>
                <a:latin typeface="Calibri"/>
              </a:rPr>
              <a:t>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4169664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000">
                <a:solidFill>
                  <a:srgbClr val="D5C5AA"/>
                </a:solidFill>
                <a:latin typeface="Calibri"/>
              </a:rPr>
              <a:t>«Это не эйфория. Это мягкая регуляция контуров мозга, отвечающих за ощущение безопасности и контакта.»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76344" y="1389888"/>
            <a:ext cx="3636264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TESTOBOOS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7784" y="1481328"/>
            <a:ext cx="3453384" cy="1463040"/>
          </a:xfrm>
          <a:prstGeom prst="rect">
            <a:avLst/>
          </a:prstGeom>
        </p:spPr>
      </p:pic>
      <p:sp>
        <p:nvSpPr>
          <p:cNvPr id="23" name="Rounded Rectangle 22"/>
          <p:cNvSpPr/>
          <p:nvPr/>
        </p:nvSpPr>
        <p:spPr>
          <a:xfrm>
            <a:off x="4367784" y="1481328"/>
            <a:ext cx="3453384" cy="1463040"/>
          </a:xfrm>
          <a:prstGeom prst="roundRect">
            <a:avLst/>
          </a:prstGeom>
          <a:solidFill>
            <a:srgbClr val="3C1E0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59224" y="1554480"/>
            <a:ext cx="32705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89A50"/>
                </a:solidFill>
                <a:latin typeface="Calibri"/>
              </a:rPr>
              <a:t>TESTOBOOSTER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59224" y="2029968"/>
            <a:ext cx="3270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5C5AA"/>
                </a:solidFill>
                <a:latin typeface="Calibri"/>
              </a:rPr>
              <a:t>(Центральные механизмы)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59224" y="2368296"/>
            <a:ext cx="3270504" cy="12700"/>
          </a:xfrm>
          <a:prstGeom prst="rect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459224" y="2487168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59224" y="24871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9A50"/>
                </a:solidFill>
                <a:latin typeface="Calibri"/>
              </a:rPr>
              <a:t>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70704" y="2487168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000">
                <a:solidFill>
                  <a:srgbClr val="D5C5AA"/>
                </a:solidFill>
                <a:latin typeface="Calibri"/>
              </a:rPr>
              <a:t>Функциональное снижение либидо на фоне стресса и истощения (без гормональных сбоев).</a:t>
            </a:r>
          </a:p>
        </p:txBody>
      </p:sp>
      <p:sp>
        <p:nvSpPr>
          <p:cNvPr id="30" name="Oval 29"/>
          <p:cNvSpPr/>
          <p:nvPr/>
        </p:nvSpPr>
        <p:spPr>
          <a:xfrm>
            <a:off x="4459224" y="3328416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9224" y="33284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9A50"/>
                </a:solidFill>
                <a:latin typeface="Calibri"/>
              </a:rPr>
              <a:t>◎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70704" y="3328416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000">
                <a:solidFill>
                  <a:srgbClr val="D5C5AA"/>
                </a:solidFill>
                <a:latin typeface="Calibri"/>
              </a:rPr>
              <a:t>Аккуратно «будит» центральные нейронные сети желания и мотивации в мозге.</a:t>
            </a:r>
          </a:p>
        </p:txBody>
      </p:sp>
      <p:sp>
        <p:nvSpPr>
          <p:cNvPr id="33" name="Oval 32"/>
          <p:cNvSpPr/>
          <p:nvPr/>
        </p:nvSpPr>
        <p:spPr>
          <a:xfrm>
            <a:off x="4459224" y="4169664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59224" y="41696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C89A50"/>
                </a:solidFill>
                <a:latin typeface="Calibri"/>
              </a:rPr>
              <a:t>◎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70704" y="4169664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000">
                <a:solidFill>
                  <a:srgbClr val="D5C5AA"/>
                </a:solidFill>
                <a:latin typeface="Calibri"/>
              </a:rPr>
              <a:t>«Это не тестостерон и не виагра. Он работает с механизмами желания в мозге, когда причина в усталости.»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95488" y="1389888"/>
            <a:ext cx="3636264" cy="513892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AMO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6928" y="1481328"/>
            <a:ext cx="3453384" cy="1463040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8186928" y="1481328"/>
            <a:ext cx="3453384" cy="1463040"/>
          </a:xfrm>
          <a:prstGeom prst="roundRect">
            <a:avLst/>
          </a:prstGeom>
          <a:solidFill>
            <a:srgbClr val="3C1E0C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8368" y="1554480"/>
            <a:ext cx="3270504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E6A3A"/>
                </a:solidFill>
                <a:latin typeface="Calibri"/>
              </a:rPr>
              <a:t>AMORE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78368" y="2029968"/>
            <a:ext cx="327050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D5C5AA"/>
                </a:solidFill>
                <a:latin typeface="Calibri"/>
              </a:rPr>
              <a:t>(Регулятор оси)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278368" y="2368296"/>
            <a:ext cx="3270504" cy="12700"/>
          </a:xfrm>
          <a:prstGeom prst="rect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78368" y="2487168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278368" y="2487168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9848" y="2487168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Для кого: </a:t>
            </a:r>
            <a:r>
              <a:rPr sz="1000">
                <a:solidFill>
                  <a:srgbClr val="D5C5AA"/>
                </a:solidFill>
                <a:latin typeface="Calibri"/>
              </a:rPr>
              <a:t>Сбои цикла, функциональное бесплодие, снижение либидо (строго после оценки врачом).</a:t>
            </a:r>
          </a:p>
        </p:txBody>
      </p:sp>
      <p:sp>
        <p:nvSpPr>
          <p:cNvPr id="45" name="Oval 44"/>
          <p:cNvSpPr/>
          <p:nvPr/>
        </p:nvSpPr>
        <p:spPr>
          <a:xfrm>
            <a:off x="8278368" y="3328416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8368" y="3328416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9848" y="3328416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Механизм: </a:t>
            </a:r>
            <a:r>
              <a:rPr sz="1000">
                <a:solidFill>
                  <a:srgbClr val="D5C5AA"/>
                </a:solidFill>
                <a:latin typeface="Calibri"/>
              </a:rPr>
              <a:t>Подаёт сигнал гипоталамусу для естественного запуска синтеза собственных гормонов.</a:t>
            </a:r>
          </a:p>
        </p:txBody>
      </p:sp>
      <p:sp>
        <p:nvSpPr>
          <p:cNvPr id="48" name="Oval 47"/>
          <p:cNvSpPr/>
          <p:nvPr/>
        </p:nvSpPr>
        <p:spPr>
          <a:xfrm>
            <a:off x="8278368" y="4169664"/>
            <a:ext cx="320040" cy="320040"/>
          </a:xfrm>
          <a:prstGeom prst="ellipse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78368" y="4169664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9E6A3A"/>
                </a:solidFill>
                <a:latin typeface="Calibri"/>
              </a:rPr>
              <a:t>◎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9848" y="4169664"/>
            <a:ext cx="2859024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000">
                <a:solidFill>
                  <a:srgbClr val="C89A50"/>
                </a:solidFill>
                <a:latin typeface="Calibri"/>
              </a:rPr>
              <a:t>Скрипт: </a:t>
            </a:r>
            <a:r>
              <a:rPr sz="1000">
                <a:solidFill>
                  <a:srgbClr val="D5C5AA"/>
                </a:solidFill>
                <a:latin typeface="Calibri"/>
              </a:rPr>
              <a:t>«Это не гормоны извне. Это сигнал телу включить собственную систему так, как задумано природой.»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Путь клиента: Алгоритм визита специалиста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2487168" cy="2057400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94360" y="1508760"/>
            <a:ext cx="438912" cy="438912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5087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153619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8D8"/>
                </a:solidFill>
                <a:latin typeface="Calibri"/>
              </a:rPr>
              <a:t>СБОР ЖАЛОБ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76272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C5AA"/>
                </a:solidFill>
                <a:latin typeface="Calibri"/>
              </a:rPr>
              <a:t>Что беспокоит, динамика.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063240"/>
            <a:ext cx="603503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" y="3090672"/>
            <a:ext cx="45719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Боль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71015" y="3063240"/>
            <a:ext cx="932688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4167" y="3090672"/>
            <a:ext cx="78638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Динамика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944368" y="2400300.0"/>
            <a:ext cx="109728" cy="0.0"/>
          </a:xfrm>
          <a:prstGeom prst="line">
            <a:avLst/>
          </a:prstGeom>
          <a:ln w="25400">
            <a:solidFill>
              <a:srgbClr val="BF78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054096" y="1371600"/>
            <a:ext cx="2487168" cy="2057400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3191256" y="1508760"/>
            <a:ext cx="438912" cy="438912"/>
          </a:xfrm>
          <a:prstGeom prst="ellipse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91256" y="15087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12464" y="153619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8D8"/>
                </a:solidFill>
                <a:latin typeface="Calibri"/>
              </a:rPr>
              <a:t>АНАМНЕЗ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1256" y="2176272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C5AA"/>
                </a:solidFill>
                <a:latin typeface="Calibri"/>
              </a:rPr>
              <a:t>Текущие препараты, заболевания.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191256" y="3063240"/>
            <a:ext cx="1014983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64408" y="3090672"/>
            <a:ext cx="868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Лекарства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9391" y="3063240"/>
            <a:ext cx="1508760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52543" y="3090672"/>
            <a:ext cx="136245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Хр. заболевания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541264" y="2400300.0"/>
            <a:ext cx="109728" cy="0.0"/>
          </a:xfrm>
          <a:prstGeom prst="line">
            <a:avLst/>
          </a:prstGeom>
          <a:ln w="25400">
            <a:solidFill>
              <a:srgbClr val="9E6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650992" y="1371600"/>
            <a:ext cx="2487168" cy="2057400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788152" y="1508760"/>
            <a:ext cx="438912" cy="438912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88152" y="15087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153619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8D8"/>
                </a:solidFill>
                <a:latin typeface="Calibri"/>
              </a:rPr>
              <a:t>СКРИНИНГ
ПРОТИВОПОКАЗАНИЙ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88152" y="2176272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C5AA"/>
                </a:solidFill>
                <a:latin typeface="Calibri"/>
              </a:rPr>
              <a:t>Проверка абсолютных стопов.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88152" y="3063240"/>
            <a:ext cx="1591056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61304" y="3090672"/>
            <a:ext cx="144475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Противопоказания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138160" y="2400300.0"/>
            <a:ext cx="109728" cy="0.0"/>
          </a:xfrm>
          <a:prstGeom prst="line">
            <a:avLst/>
          </a:prstGeom>
          <a:ln w="25400">
            <a:solidFill>
              <a:srgbClr val="BF78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8247888" y="1371600"/>
            <a:ext cx="2487168" cy="2057400"/>
          </a:xfrm>
          <a:prstGeom prst="roundRect">
            <a:avLst/>
          </a:prstGeom>
          <a:solidFill>
            <a:srgbClr val="482810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385048" y="1508760"/>
            <a:ext cx="438912" cy="438912"/>
          </a:xfrm>
          <a:prstGeom prst="ellipse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85048" y="150876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06256" y="153619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8D8"/>
                </a:solidFill>
                <a:latin typeface="Calibri"/>
              </a:rPr>
              <a:t>СКРИНИНГ
«КРАСНЫХ ФЛАГОВ»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85048" y="2176272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C5AA"/>
                </a:solidFill>
                <a:latin typeface="Calibri"/>
              </a:rPr>
              <a:t>При наличии → направление к врачу.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85048" y="3063240"/>
            <a:ext cx="1344168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458200" y="3090672"/>
            <a:ext cx="11978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Красные флаги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703320"/>
            <a:ext cx="2487168" cy="2057400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94360" y="3840480"/>
            <a:ext cx="438912" cy="438912"/>
          </a:xfrm>
          <a:prstGeom prst="ellipse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4360" y="38404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" y="386791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8D8"/>
                </a:solidFill>
                <a:latin typeface="Calibri"/>
              </a:rPr>
              <a:t>ФОРМИРОВАНИЕ
ОЖИДАНИЙ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4507992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C5AA"/>
                </a:solidFill>
                <a:latin typeface="Calibri"/>
              </a:rPr>
              <a:t>Никаких 100% гарантий.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394960"/>
            <a:ext cx="1673352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7512" y="5422392"/>
            <a:ext cx="1527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Реалистичные цели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944368" y="4732020.0"/>
            <a:ext cx="109728" cy="0.0"/>
          </a:xfrm>
          <a:prstGeom prst="line">
            <a:avLst/>
          </a:prstGeom>
          <a:ln w="25400">
            <a:solidFill>
              <a:srgbClr val="9E6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3054096" y="3703320"/>
            <a:ext cx="2487168" cy="2057400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191256" y="3840480"/>
            <a:ext cx="438912" cy="438912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191256" y="38404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⬡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712464" y="386791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8D8"/>
                </a:solidFill>
                <a:latin typeface="Calibri"/>
              </a:rPr>
              <a:t>ПОДБОР
КОМПЛЕКСА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191256" y="4507992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C5AA"/>
                </a:solidFill>
                <a:latin typeface="Calibri"/>
              </a:rPr>
              <a:t>По матрице приоритетов.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3191256" y="5394960"/>
            <a:ext cx="1014983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264408" y="5422392"/>
            <a:ext cx="868679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Инд. план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541264" y="4732020.0"/>
            <a:ext cx="109728" cy="0.0"/>
          </a:xfrm>
          <a:prstGeom prst="line">
            <a:avLst/>
          </a:prstGeom>
          <a:ln w="25400">
            <a:solidFill>
              <a:srgbClr val="BF78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5650992" y="3703320"/>
            <a:ext cx="2487168" cy="2057400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788152" y="3840480"/>
            <a:ext cx="438912" cy="438912"/>
          </a:xfrm>
          <a:prstGeom prst="ellipse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788152" y="38404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☑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309360" y="386791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8D8"/>
                </a:solidFill>
                <a:latin typeface="Calibri"/>
              </a:rPr>
              <a:t>СОГЛАСОВАНИЕ
СХЕМЫ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788152" y="4507992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C5AA"/>
                </a:solidFill>
                <a:latin typeface="Calibri"/>
              </a:rPr>
              <a:t>Строго по инструкции.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788152" y="5394960"/>
            <a:ext cx="1097280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861304" y="5422392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Инструкция</a:t>
            </a:r>
          </a:p>
        </p:txBody>
      </p:sp>
      <p:cxnSp>
        <p:nvCxnSpPr>
          <p:cNvPr id="64" name="Connector 63"/>
          <p:cNvCxnSpPr/>
          <p:nvPr/>
        </p:nvCxnSpPr>
        <p:spPr>
          <a:xfrm>
            <a:off x="8138160" y="4732020.0"/>
            <a:ext cx="109728" cy="0.0"/>
          </a:xfrm>
          <a:prstGeom prst="line">
            <a:avLst/>
          </a:prstGeom>
          <a:ln w="25400">
            <a:solidFill>
              <a:srgbClr val="9E6A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8247888" y="3703320"/>
            <a:ext cx="2487168" cy="2057400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385048" y="3840480"/>
            <a:ext cx="438912" cy="438912"/>
          </a:xfrm>
          <a:prstGeom prst="ellipse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385048" y="3840480"/>
            <a:ext cx="43891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▲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906256" y="3867912"/>
            <a:ext cx="1691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0E8D8"/>
                </a:solidFill>
                <a:latin typeface="Calibri"/>
              </a:rPr>
              <a:t>КОНТРОЛЬНЫЕ
ТОЧКИ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85048" y="4507992"/>
            <a:ext cx="2212848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5C5AA"/>
                </a:solidFill>
                <a:latin typeface="Calibri"/>
              </a:rPr>
              <a:t>Фиксация динамики.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385048" y="5394960"/>
            <a:ext cx="1097280" cy="25603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458200" y="5422392"/>
            <a:ext cx="950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D5C5AA"/>
                </a:solidFill>
                <a:latin typeface="Calibri"/>
              </a:rPr>
              <a:t>Мониторинг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8385048" y="3429000"/>
            <a:ext cx="2212848" cy="256032"/>
          </a:xfrm>
          <a:prstGeom prst="roundRect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430768" y="3456432"/>
            <a:ext cx="212140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Если ДА → Остановка. Направление к врачу.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0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154887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Зона риска: Абсолютные «Красные флаги»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896112"/>
            <a:ext cx="11548872" cy="566928"/>
          </a:xfrm>
          <a:prstGeom prst="roundRect">
            <a:avLst/>
          </a:prstGeom>
          <a:solidFill>
            <a:srgbClr val="501808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1118311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8D8"/>
                </a:solidFill>
                <a:latin typeface="Calibri"/>
              </a:rPr>
              <a:t>⚠  При наличии данных состояний самостоятельный подбор ЗАПРЕЩЁН. Обязательное направление к профильному врачу до старта курса.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72768"/>
            <a:ext cx="2795778" cy="1783080"/>
          </a:xfrm>
          <a:prstGeom prst="roundRect">
            <a:avLst/>
          </a:prstGeom>
          <a:solidFill>
            <a:srgbClr val="401408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6824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3818"/>
                </a:solidFill>
                <a:latin typeface="Calibri"/>
              </a:rPr>
              <a:t>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103120"/>
            <a:ext cx="252145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Беременность
и лактация.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26130" y="1572768"/>
            <a:ext cx="2795778" cy="1783080"/>
          </a:xfrm>
          <a:prstGeom prst="roundRect">
            <a:avLst/>
          </a:prstGeom>
          <a:solidFill>
            <a:srgbClr val="401408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63290" y="16824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3818"/>
                </a:solidFill>
                <a:latin typeface="Calibri"/>
              </a:rPr>
              <a:t>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63290" y="2103120"/>
            <a:ext cx="252145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Активная или
подозреваемая онкология.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5060" y="1572768"/>
            <a:ext cx="2795778" cy="1783080"/>
          </a:xfrm>
          <a:prstGeom prst="roundRect">
            <a:avLst/>
          </a:prstGeom>
          <a:solidFill>
            <a:srgbClr val="401408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2220" y="16824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3818"/>
                </a:solidFill>
                <a:latin typeface="Calibr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2220" y="2103120"/>
            <a:ext cx="252145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Тяжёлые психиатрические
состояния (психозы,
нестабильное БАР, тяжёлая депрессия).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3990" y="1572768"/>
            <a:ext cx="2795778" cy="1783080"/>
          </a:xfrm>
          <a:prstGeom prst="roundRect">
            <a:avLst/>
          </a:prstGeom>
          <a:solidFill>
            <a:srgbClr val="401408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1150" y="168249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3818"/>
                </a:solidFill>
                <a:latin typeface="Calibri"/>
              </a:rPr>
              <a:t>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1150" y="2103120"/>
            <a:ext cx="2521458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Острые инфекции,
лихорадка, аутоиммунные
обострения.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465576"/>
            <a:ext cx="3727704" cy="1783080"/>
          </a:xfrm>
          <a:prstGeom prst="roundRect">
            <a:avLst/>
          </a:prstGeom>
          <a:solidFill>
            <a:srgbClr val="401408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35753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3818"/>
                </a:solidFill>
                <a:latin typeface="Calibri"/>
              </a:rPr>
              <a:t>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3995928"/>
            <a:ext cx="34533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Эндокринная патология
неясного генеза.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76344" y="3465576"/>
            <a:ext cx="3727704" cy="1783080"/>
          </a:xfrm>
          <a:prstGeom prst="roundRect">
            <a:avLst/>
          </a:prstGeom>
          <a:solidFill>
            <a:srgbClr val="401408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3504" y="35753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3818"/>
                </a:solidFill>
                <a:latin typeface="Calibri"/>
              </a:rPr>
              <a:t>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3504" y="3995928"/>
            <a:ext cx="34533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Необъяснимая потеря
веса, кровотечения,
нарастающая боль.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5488" y="3465576"/>
            <a:ext cx="3727704" cy="1783080"/>
          </a:xfrm>
          <a:prstGeom prst="roundRect">
            <a:avLst/>
          </a:prstGeom>
          <a:solidFill>
            <a:srgbClr val="401408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32648" y="357530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03818"/>
                </a:solidFill>
                <a:latin typeface="Calibri"/>
              </a:rPr>
              <a:t>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32648" y="3995928"/>
            <a:ext cx="3453384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Возраст до 18 лет.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Архитектура курса: Приоритеты и комбинирование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E8D8"/>
                </a:solidFill>
                <a:latin typeface="Calibri"/>
              </a:rPr>
              <a:t>Пирамида приоритетов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1431" y="1901952"/>
            <a:ext cx="4797856" cy="841248"/>
          </a:xfrm>
          <a:prstGeom prst="round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6023" y="1975104"/>
            <a:ext cx="4468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Уровень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023" y="2340864"/>
            <a:ext cx="44686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Либидо, Репродуктивная ось, Эмоции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023" y="2560320"/>
            <a:ext cx="446867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EED8"/>
                </a:solidFill>
                <a:latin typeface="Calibri"/>
              </a:rPr>
              <a:t>(TESTOBOOSTER, AMORE, OXYGEN)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89016" y="2206752"/>
            <a:ext cx="1828800" cy="34747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62168" y="22524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5C5AA"/>
                </a:solidFill>
                <a:latin typeface="Calibri"/>
              </a:rPr>
              <a:t>Решаем после снятия истощения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35684" y="2816352"/>
            <a:ext cx="3489350" cy="841248"/>
          </a:xfrm>
          <a:prstGeom prst="roundRect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00276" y="2889504"/>
            <a:ext cx="316016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Уровень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00276" y="3255264"/>
            <a:ext cx="316016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Когнитивная нагрузка, Выгорание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00276" y="3474720"/>
            <a:ext cx="316016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EED8"/>
                </a:solidFill>
                <a:latin typeface="Calibri"/>
              </a:rPr>
              <a:t>(ACTIVEBRAIN, STRESSRELIEF)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789938" y="3730752"/>
            <a:ext cx="2180844" cy="841248"/>
          </a:xfrm>
          <a:prstGeom prst="roundRect">
            <a:avLst/>
          </a:prstGeom>
          <a:solidFill>
            <a:srgbClr val="5A7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54530" y="3803904"/>
            <a:ext cx="18516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Уровень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54530" y="4169664"/>
            <a:ext cx="18516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alibri"/>
              </a:rPr>
              <a:t>Сон, Боль, Острый стресс, ОРВИ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54530" y="4389120"/>
            <a:ext cx="18516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EED8"/>
                </a:solidFill>
                <a:latin typeface="Calibri"/>
              </a:rPr>
              <a:t>(RECOVERY, RELIEF, NO STRESS, IMMUNACTIV)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080510" y="4035552"/>
            <a:ext cx="1828800" cy="347472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53662" y="4081272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D5C5AA"/>
                </a:solidFill>
                <a:latin typeface="Calibri"/>
              </a:rPr>
              <a:t>Сначала стабилизируем базу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1417320"/>
            <a:ext cx="60624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0E8D8"/>
                </a:solidFill>
                <a:latin typeface="Calibri"/>
              </a:rPr>
              <a:t>Золотые правила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1901952"/>
            <a:ext cx="6062472" cy="658368"/>
          </a:xfrm>
          <a:prstGeom prst="roundRect">
            <a:avLst/>
          </a:prstGeom>
          <a:solidFill>
            <a:srgbClr val="4E28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1975104"/>
            <a:ext cx="56967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8D8"/>
                </a:solidFill>
                <a:latin typeface="Calibri"/>
              </a:rPr>
              <a:t>Правило №1: Старт всегда с одного комплекса.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0" y="2670048"/>
            <a:ext cx="6062472" cy="129844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5A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33872" y="2743200"/>
            <a:ext cx="384048" cy="384048"/>
          </a:xfrm>
          <a:prstGeom prst="ellipse">
            <a:avLst/>
          </a:prstGeom>
          <a:solidFill>
            <a:srgbClr val="5A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833872" y="274320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761488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8A40"/>
                </a:solidFill>
                <a:latin typeface="Calibri"/>
              </a:rPr>
              <a:t>МОЖНО комбинировать: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3127248"/>
            <a:ext cx="52852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Если запросы разные, но связаны (напр. недосып + выгорание), и нет пересекающихся противопоказаний.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0" y="4078224"/>
            <a:ext cx="6062472" cy="129844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833872" y="4151376"/>
            <a:ext cx="384048" cy="384048"/>
          </a:xfrm>
          <a:prstGeom prst="ellipse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33872" y="415137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169663"/>
            <a:ext cx="5285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818"/>
                </a:solidFill>
                <a:latin typeface="Calibri"/>
              </a:rPr>
              <a:t>НЕЛЬЗЯ комбинировать: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535424"/>
            <a:ext cx="528523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Стимулирующие и седативные профили одновременно без чёткой цели; назначать «всё сразу».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Оценка результатов: Контрольная точка (2–4 недели)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265676" y="1389888"/>
            <a:ext cx="3657600" cy="777240"/>
          </a:xfrm>
          <a:prstGeom prst="roundRect">
            <a:avLst/>
          </a:prstGeom>
          <a:solidFill>
            <a:srgbClr val="4E2812"/>
          </a:solidFill>
          <a:ln w="2540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430268" y="1572768"/>
            <a:ext cx="411480" cy="411480"/>
          </a:xfrm>
          <a:prstGeom prst="ellipse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0268" y="157276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3188" y="1463040"/>
            <a:ext cx="28529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0E8D8"/>
                </a:solidFill>
                <a:latin typeface="Calibri"/>
              </a:rPr>
              <a:t>Оценка самочувствия
и соблюдения схемы.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2331720.0" y="2167128"/>
            <a:ext cx="3762756.0" cy="228600"/>
          </a:xfrm>
          <a:prstGeom prst="line">
            <a:avLst/>
          </a:prstGeom>
          <a:ln w="12700">
            <a:solidFill>
              <a:srgbClr val="5A8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2395728"/>
            <a:ext cx="3200400" cy="1188720"/>
          </a:xfrm>
          <a:prstGeom prst="roundRect">
            <a:avLst/>
          </a:prstGeom>
          <a:solidFill>
            <a:srgbClr val="3C1E0C"/>
          </a:solidFill>
          <a:ln w="25400">
            <a:solidFill>
              <a:srgbClr val="5A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96112" y="2560320"/>
            <a:ext cx="411480" cy="411480"/>
          </a:xfrm>
          <a:prstGeom prst="ellipse">
            <a:avLst/>
          </a:prstGeom>
          <a:solidFill>
            <a:srgbClr val="5A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560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99032" y="2532888"/>
            <a:ext cx="2395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5A8A40"/>
                </a:solidFill>
                <a:latin typeface="Calibri"/>
              </a:rPr>
              <a:t>Положительная
динамика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21608"/>
            <a:ext cx="3200400" cy="1463040"/>
          </a:xfrm>
          <a:prstGeom prst="roundRect">
            <a:avLst/>
          </a:prstGeom>
          <a:solidFill>
            <a:srgbClr val="4E2812"/>
          </a:solidFill>
          <a:ln w="12700">
            <a:solidFill>
              <a:srgbClr val="5A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813048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5A8A40"/>
                </a:solidFill>
                <a:latin typeface="Calibri"/>
              </a:rPr>
              <a:t>Действие: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133088"/>
            <a:ext cx="28712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Продолжить курс по инструкции. Фиксация результата.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331720.0" y="2395728"/>
            <a:ext cx="0.0" cy="1325880"/>
          </a:xfrm>
          <a:prstGeom prst="line">
            <a:avLst/>
          </a:prstGeom>
          <a:ln w="12700">
            <a:solidFill>
              <a:srgbClr val="5A8A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5760720.0" y="2167128"/>
            <a:ext cx="333756.0" cy="228600"/>
          </a:xfrm>
          <a:prstGeom prst="line">
            <a:avLst/>
          </a:prstGeom>
          <a:ln w="12700">
            <a:solidFill>
              <a:srgbClr val="C89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160520" y="2395728"/>
            <a:ext cx="3200400" cy="1188720"/>
          </a:xfrm>
          <a:prstGeom prst="roundRect">
            <a:avLst/>
          </a:prstGeom>
          <a:solidFill>
            <a:srgbClr val="3C1E0C"/>
          </a:solidFill>
          <a:ln w="2540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25112" y="2560320"/>
            <a:ext cx="411480" cy="411480"/>
          </a:xfrm>
          <a:prstGeom prst="ellipse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25112" y="2560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28032" y="2532888"/>
            <a:ext cx="2395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89A50"/>
                </a:solidFill>
                <a:latin typeface="Calibri"/>
              </a:rPr>
              <a:t>Отсутствие
эффекта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60520" y="3721608"/>
            <a:ext cx="3200400" cy="1463040"/>
          </a:xfrm>
          <a:prstGeom prst="roundRect">
            <a:avLst/>
          </a:prstGeom>
          <a:solidFill>
            <a:srgbClr val="4E2812"/>
          </a:solidFill>
          <a:ln w="1270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25112" y="3813048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89A50"/>
                </a:solidFill>
                <a:latin typeface="Calibri"/>
              </a:rPr>
              <a:t>Действие: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4133088"/>
            <a:ext cx="28712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Проверить дозу, регулярность, приоритет жалобы.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760720.0" y="2395728"/>
            <a:ext cx="0.0" cy="1325880"/>
          </a:xfrm>
          <a:prstGeom prst="line">
            <a:avLst/>
          </a:prstGeom>
          <a:ln w="12700">
            <a:solidFill>
              <a:srgbClr val="C89A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094476.0" y="2167128"/>
            <a:ext cx="3095244.0" cy="228600"/>
          </a:xfrm>
          <a:prstGeom prst="line">
            <a:avLst/>
          </a:prstGeom>
          <a:ln w="12700">
            <a:solidFill>
              <a:srgbClr val="C03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589520" y="2395728"/>
            <a:ext cx="3200400" cy="1188720"/>
          </a:xfrm>
          <a:prstGeom prst="roundRect">
            <a:avLst/>
          </a:prstGeom>
          <a:solidFill>
            <a:srgbClr val="3C1E0C"/>
          </a:solidFill>
          <a:ln w="2540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54112" y="2560320"/>
            <a:ext cx="411480" cy="411480"/>
          </a:xfrm>
          <a:prstGeom prst="ellipse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54112" y="256032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57032" y="2532888"/>
            <a:ext cx="239572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3818"/>
                </a:solidFill>
                <a:latin typeface="Calibri"/>
              </a:rPr>
              <a:t>Нежелательная
реакция
(Ухудшение)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89520" y="3721608"/>
            <a:ext cx="3200400" cy="1463040"/>
          </a:xfrm>
          <a:prstGeom prst="roundRect">
            <a:avLst/>
          </a:prstGeom>
          <a:solidFill>
            <a:srgbClr val="4E2812"/>
          </a:solidFill>
          <a:ln w="1270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54112" y="3813048"/>
            <a:ext cx="287121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818"/>
                </a:solidFill>
                <a:latin typeface="Calibri"/>
              </a:rPr>
              <a:t>Действие: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54112" y="4133088"/>
            <a:ext cx="28712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Немедленная остановка курса. Очная консультация врача. Фиксация симптомов.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189720.0" y="2395728"/>
            <a:ext cx="0.0" cy="1325880"/>
          </a:xfrm>
          <a:prstGeom prst="line">
            <a:avLst/>
          </a:prstGeom>
          <a:ln w="12700">
            <a:solidFill>
              <a:srgbClr val="C0381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4160520" y="5321808"/>
            <a:ext cx="3200400" cy="960120"/>
          </a:xfrm>
          <a:prstGeom prst="roundRect">
            <a:avLst/>
          </a:prstGeom>
          <a:solidFill>
            <a:srgbClr val="482808"/>
          </a:solidFill>
          <a:ln w="1270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25112" y="5413248"/>
            <a:ext cx="2871216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C89A50"/>
                </a:solidFill>
                <a:latin typeface="Calibri"/>
              </a:rPr>
              <a:t>НЕ увеличивать дозу!
НЕ добавлять второй комплекс!
При соблюдении схемы — к врачу.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Анатомия возражений: Аргументация специалиста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5454396" cy="230428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89888"/>
            <a:ext cx="109728" cy="2304288"/>
          </a:xfrm>
          <a:prstGeom prst="round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58368" y="1554480"/>
            <a:ext cx="384048" cy="384048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" y="1499616"/>
            <a:ext cx="4631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7850"/>
                </a:solidFill>
                <a:latin typeface="Calibri"/>
              </a:rPr>
              <a:t>Возражение: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" y="1737360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8D8"/>
                </a:solidFill>
                <a:latin typeface="Calibri"/>
              </a:rPr>
              <a:t>«Это гормоны?»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2212848"/>
            <a:ext cx="5116068" cy="1270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286000"/>
            <a:ext cx="51160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7850"/>
                </a:solidFill>
                <a:latin typeface="Calibri"/>
              </a:rPr>
              <a:t>Ответ: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2532888"/>
            <a:ext cx="51160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Нет. Это короткие пептиды. Они не подменяют систему, а просят ваше тело самостоятельно выработать нужные вещества в физиологичной норме.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69565" y="3282696"/>
            <a:ext cx="2377439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15285" y="3300984"/>
            <a:ext cx="228599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Самостоятельная выработка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7356" y="1389888"/>
            <a:ext cx="5454396" cy="230428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9E6A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77356" y="1389888"/>
            <a:ext cx="109728" cy="2304288"/>
          </a:xfrm>
          <a:prstGeom prst="roundRect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8524" y="1554480"/>
            <a:ext cx="384048" cy="384048"/>
          </a:xfrm>
          <a:prstGeom prst="ellipse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8524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4012" y="1499616"/>
            <a:ext cx="4631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E6A3A"/>
                </a:solidFill>
                <a:latin typeface="Calibri"/>
              </a:rPr>
              <a:t>Возражение: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4012" y="1737360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8D8"/>
                </a:solidFill>
                <a:latin typeface="Calibri"/>
              </a:rPr>
              <a:t>«Это просто очередной БАД?»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78524" y="2212848"/>
            <a:ext cx="5116068" cy="12700"/>
          </a:xfrm>
          <a:prstGeom prst="rect">
            <a:avLst/>
          </a:prstGeom>
          <a:solidFill>
            <a:srgbClr val="9E6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8524" y="2286000"/>
            <a:ext cx="51160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9E6A3A"/>
                </a:solidFill>
                <a:latin typeface="Calibri"/>
              </a:rPr>
              <a:t>Ответ: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8524" y="2532888"/>
            <a:ext cx="51160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Это точечный регулятор. Пептиды работают по принципу «ключ-замок» строго со своими рецепторами, а не просто «укрепляют всё понемногу».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2991" y="3282696"/>
            <a:ext cx="1814169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98711" y="3300984"/>
            <a:ext cx="172272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Принцип ключ-замок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877056"/>
            <a:ext cx="5454396" cy="230428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3877056"/>
            <a:ext cx="109728" cy="2304288"/>
          </a:xfrm>
          <a:prstGeom prst="roundRect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" y="4041648"/>
            <a:ext cx="384048" cy="384048"/>
          </a:xfrm>
          <a:prstGeom prst="ellipse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" y="4041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" y="3986784"/>
            <a:ext cx="4631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89A50"/>
                </a:solidFill>
                <a:latin typeface="Calibri"/>
              </a:rPr>
              <a:t>Возражение: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" y="4224528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8D8"/>
                </a:solidFill>
                <a:latin typeface="Calibri"/>
              </a:rPr>
              <a:t>«Вызовет ли это привыкание?»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4700016"/>
            <a:ext cx="5116068" cy="12700"/>
          </a:xfrm>
          <a:prstGeom prst="rect">
            <a:avLst/>
          </a:prstGeom>
          <a:solidFill>
            <a:srgbClr val="C89A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" y="4773168"/>
            <a:ext cx="51160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89A50"/>
                </a:solidFill>
                <a:latin typeface="Calibri"/>
              </a:rPr>
              <a:t>Ответ: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368" y="5020056"/>
            <a:ext cx="51160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Не вызывает зависимости и синдрома отмены. После курса организм продолжает использовать восстановленные ресурсы самостоятельно.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47696" y="5769864"/>
            <a:ext cx="2699308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93416" y="5788152"/>
            <a:ext cx="26078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Курс → самостоятельная работа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7356" y="3877056"/>
            <a:ext cx="5454396" cy="2304288"/>
          </a:xfrm>
          <a:prstGeom prst="roundRect">
            <a:avLst/>
          </a:prstGeom>
          <a:solidFill>
            <a:srgbClr val="3C1E0C"/>
          </a:solidFill>
          <a:ln w="1905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77356" y="3877056"/>
            <a:ext cx="109728" cy="2304288"/>
          </a:xfrm>
          <a:prstGeom prst="round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78524" y="4041648"/>
            <a:ext cx="384048" cy="384048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78524" y="404164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54012" y="3986784"/>
            <a:ext cx="463143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F7850"/>
                </a:solidFill>
                <a:latin typeface="Calibri"/>
              </a:rPr>
              <a:t>Возражение: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54012" y="4224528"/>
            <a:ext cx="46314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E8D8"/>
                </a:solidFill>
                <a:latin typeface="Calibri"/>
              </a:rPr>
              <a:t>«А вдруг не поможет?»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78524" y="4700016"/>
            <a:ext cx="5116068" cy="1270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78524" y="4773168"/>
            <a:ext cx="51160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F7850"/>
                </a:solidFill>
                <a:latin typeface="Calibri"/>
              </a:rPr>
              <a:t>Ответ: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78524" y="5020056"/>
            <a:ext cx="511606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5C5AA"/>
                </a:solidFill>
                <a:latin typeface="Calibri"/>
              </a:rPr>
              <a:t>Мы не обещаем чудес и 100% гарантий. Эффект развивается постепенно. Для этого мы ставим контрольные точки и сверяем динамику.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833458" y="5769864"/>
            <a:ext cx="1733702" cy="292608"/>
          </a:xfrm>
          <a:prstGeom prst="roundRect">
            <a:avLst/>
          </a:prstGeom>
          <a:solidFill>
            <a:srgbClr val="7A4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879178" y="5788152"/>
            <a:ext cx="164226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D5C5AA"/>
                </a:solidFill>
                <a:latin typeface="Calibri"/>
              </a:rPr>
              <a:t>Контрольная точка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Профиль специалиста: Ошибки и позиционирование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89888"/>
            <a:ext cx="5408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03818"/>
                </a:solidFill>
                <a:latin typeface="Calibri"/>
              </a:rPr>
              <a:t>Ошибки (Ловушки)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874519"/>
            <a:ext cx="5408676" cy="713232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2039111"/>
            <a:ext cx="347472" cy="347472"/>
          </a:xfrm>
          <a:prstGeom prst="ellipse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39111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" y="1984247"/>
            <a:ext cx="46954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Обещать 100% результат и «исцеление» от хронических болезней.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79191"/>
            <a:ext cx="5408676" cy="713232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4360" y="2843783"/>
            <a:ext cx="347472" cy="347472"/>
          </a:xfrm>
          <a:prstGeom prst="ellipse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43783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" y="2788919"/>
            <a:ext cx="46954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Назначать пептиды без сбора анамнеза и проверки противопоказаний.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483863"/>
            <a:ext cx="5408676" cy="713232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4360" y="3648455"/>
            <a:ext cx="347472" cy="347472"/>
          </a:xfrm>
          <a:prstGeom prst="ellipse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648455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33272" y="3593591"/>
            <a:ext cx="46954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Отменять или заменять пептидами препараты, назначенные врачом.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88535"/>
            <a:ext cx="5408676" cy="713232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94360" y="4453127"/>
            <a:ext cx="347472" cy="347472"/>
          </a:xfrm>
          <a:prstGeom prst="ellipse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445312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33272" y="4398263"/>
            <a:ext cx="46954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Назначать «все баночки сразу» при нескольких жалобах.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093207"/>
            <a:ext cx="5408676" cy="713232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C038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" y="5257799"/>
            <a:ext cx="347472" cy="347472"/>
          </a:xfrm>
          <a:prstGeom prst="ellipse">
            <a:avLst/>
          </a:prstGeom>
          <a:solidFill>
            <a:srgbClr val="C03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5257799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" y="5202935"/>
            <a:ext cx="469544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D5C5AA"/>
                </a:solidFill>
                <a:latin typeface="Calibri"/>
              </a:rPr>
              <a:t>Продолжать курс, если у клиента появилась нежелательная реакция.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23076" y="1389888"/>
            <a:ext cx="54086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5A8A40"/>
                </a:solidFill>
                <a:latin typeface="Calibri"/>
              </a:rPr>
              <a:t>Верное позиционирование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23076" y="1874519"/>
            <a:ext cx="5408676" cy="841248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5A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6460236" y="2075687"/>
            <a:ext cx="347472" cy="347472"/>
          </a:xfrm>
          <a:prstGeom prst="ellipse">
            <a:avLst/>
          </a:prstGeom>
          <a:solidFill>
            <a:srgbClr val="5A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60236" y="207568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9148" y="2011679"/>
            <a:ext cx="46954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Использовать термины: «помогает поддержать», «направлен на регуляцию».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23076" y="2834639"/>
            <a:ext cx="5408676" cy="841248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5A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460236" y="3035807"/>
            <a:ext cx="347472" cy="347472"/>
          </a:xfrm>
          <a:prstGeom prst="ellipse">
            <a:avLst/>
          </a:prstGeom>
          <a:solidFill>
            <a:srgbClr val="5A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60236" y="303580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99148" y="2971799"/>
            <a:ext cx="46954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Работать строго по приоритетам: 1 запрос = 1 комплекс на старте.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23076" y="3794759"/>
            <a:ext cx="5408676" cy="841248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5A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60236" y="3995927"/>
            <a:ext cx="347472" cy="347472"/>
          </a:xfrm>
          <a:prstGeom prst="ellipse">
            <a:avLst/>
          </a:prstGeom>
          <a:solidFill>
            <a:srgbClr val="5A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60236" y="399592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99148" y="3931919"/>
            <a:ext cx="46954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Чётко проговаривать: пептиды — часть комплексного подхода, а не замена врача.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23076" y="4754879"/>
            <a:ext cx="5408676" cy="841248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5A8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460236" y="4956047"/>
            <a:ext cx="347472" cy="347472"/>
          </a:xfrm>
          <a:prstGeom prst="ellipse">
            <a:avLst/>
          </a:prstGeom>
          <a:solidFill>
            <a:srgbClr val="5A8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60236" y="4956047"/>
            <a:ext cx="3474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99148" y="4892039"/>
            <a:ext cx="4695444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При любых сомнениях или «красных флагах» — делегировать врачу.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12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268712" y="137160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BF7850"/>
                </a:solidFill>
                <a:latin typeface="Calibri"/>
              </a:rPr>
              <a:t>GENELINE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74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0E8D8"/>
                </a:solidFill>
                <a:latin typeface="Calibri"/>
              </a:rPr>
              <a:t>Этический кодекс и Медицинский дисклеймер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19050"/>
          </a:xfrm>
          <a:prstGeom prst="rect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389888"/>
            <a:ext cx="11274552" cy="749808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499616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Настоящий материал носит информационно-образовательный характер.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9424"/>
            <a:ext cx="11274552" cy="749808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0080" y="2414016"/>
            <a:ext cx="384048" cy="384048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414016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59152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Материал не заменяет очной консультации врача и не является инструкцией по самолечению.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08960"/>
            <a:ext cx="11274552" cy="1051560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0080" y="3273552"/>
            <a:ext cx="384048" cy="384048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3218688"/>
            <a:ext cx="10451592" cy="8503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При наличии заболеваний, во время беременности и лактации, при онкологических, психиатрических и эндокринных состояниях применение возможно только после очной оценки врачом.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68496"/>
            <a:ext cx="11274552" cy="749808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0080" y="4133088"/>
            <a:ext cx="384048" cy="384048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133088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078224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Конкретная схема применения определяется инструкцией производителя и/или назначением врача.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828032"/>
            <a:ext cx="11274552" cy="749808"/>
          </a:xfrm>
          <a:prstGeom prst="roundRect">
            <a:avLst/>
          </a:prstGeom>
          <a:solidFill>
            <a:srgbClr val="3C1E0C"/>
          </a:solidFill>
          <a:ln w="12700">
            <a:solidFill>
              <a:srgbClr val="BF78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4992624"/>
            <a:ext cx="384048" cy="384048"/>
          </a:xfrm>
          <a:prstGeom prst="ellipse">
            <a:avLst/>
          </a:prstGeom>
          <a:solidFill>
            <a:srgbClr val="BF7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92624"/>
            <a:ext cx="3840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4937760"/>
            <a:ext cx="104515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5C5AA"/>
                </a:solidFill>
                <a:latin typeface="Calibri"/>
              </a:rPr>
              <a:t>Мы не даём гарантий полного излечения или замены стандартной медицинской терапии.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236208"/>
            <a:ext cx="11274552" cy="475488"/>
          </a:xfrm>
          <a:prstGeom prst="roundRect">
            <a:avLst/>
          </a:prstGeom>
          <a:solidFill>
            <a:srgbClr val="482408"/>
          </a:solidFill>
          <a:ln w="19050">
            <a:solidFill>
              <a:srgbClr val="C89A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6309360"/>
            <a:ext cx="107259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89A50"/>
                </a:solidFill>
                <a:latin typeface="Calibri"/>
              </a:rPr>
              <a:t>Главный принцип: Безопасность клиента превыше всего.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